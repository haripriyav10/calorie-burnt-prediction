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docMetadata/LabelInfo.xml" ContentType="application/vnd.ms-office.classificationlabel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22" r:id="rId5"/>
    <p:sldId id="321" r:id="rId6"/>
    <p:sldId id="319" r:id="rId7"/>
    <p:sldId id="320" r:id="rId8"/>
    <p:sldId id="318" r:id="rId9"/>
    <p:sldId id="325" r:id="rId10"/>
    <p:sldId id="323" r:id="rId11"/>
    <p:sldId id="324" r:id="rId12"/>
    <p:sldId id="317" r:id="rId13"/>
    <p:sldId id="31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95B8BF"/>
    <a:srgbClr val="58696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226" autoAdjust="0"/>
    <p:restoredTop sz="95388" autoAdjust="0"/>
  </p:normalViewPr>
  <p:slideViewPr>
    <p:cSldViewPr snapToGrid="0">
      <p:cViewPr>
        <p:scale>
          <a:sx n="75" d="100"/>
          <a:sy n="75" d="100"/>
        </p:scale>
        <p:origin x="-654" y="-84"/>
      </p:cViewPr>
      <p:guideLst>
        <p:guide orient="horz" pos="2160"/>
        <p:guide pos="3840"/>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pPr/>
              <a:t>7/28/2024</a:t>
            </a:fld>
            <a:endParaRPr lang="en-US" dirty="0"/>
          </a:p>
        </p:txBody>
      </p:sp>
      <p:sp>
        <p:nvSpPr>
          <p:cNvPr id="4" name="Footer Placeholder 3">
            <a:extLst>
              <a:ext uri="{FF2B5EF4-FFF2-40B4-BE49-F238E27FC236}">
                <a16:creationId xmlns:a16="http://schemas.microsoft.com/office/drawing/2014/main" xmlns=""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pPr/>
              <a:t>‹#›</a:t>
            </a:fld>
            <a:endParaRPr lang="en-US" dirty="0"/>
          </a:p>
        </p:txBody>
      </p:sp>
    </p:spTree>
    <p:extLst>
      <p:ext uri="{BB962C8B-B14F-4D97-AF65-F5344CB8AC3E}">
        <p14:creationId xmlns:p14="http://schemas.microsoft.com/office/powerpoint/2010/main" xmlns=""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pPr/>
              <a:t>7/28/2024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pPr/>
              <a:t>‹#›</a:t>
            </a:fld>
            <a:endParaRPr lang="en-US" dirty="0"/>
          </a:p>
        </p:txBody>
      </p:sp>
    </p:spTree>
    <p:extLst>
      <p:ext uri="{BB962C8B-B14F-4D97-AF65-F5344CB8AC3E}">
        <p14:creationId xmlns:p14="http://schemas.microsoft.com/office/powerpoint/2010/main" xmlns=""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E1B5E70F-EF03-B535-2505-BC971E3BC36D}"/>
              </a:ext>
              <a:ext uri="{C183D7F6-B498-43B3-948B-1728B52AA6E4}">
                <adec:decorative xmlns:adec="http://schemas.microsoft.com/office/drawing/2017/decorative" xmlns=""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xmlns="" id="{8794424E-93DD-A404-D05E-EF6030A76D3B}"/>
              </a:ext>
              <a:ext uri="{C183D7F6-B498-43B3-948B-1728B52AA6E4}">
                <adec:decorative xmlns:adec="http://schemas.microsoft.com/office/drawing/2017/decorative" xmlns=""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xmlns="" id="{B03A3B6B-5129-A46A-A20C-5D7BC706C9B1}"/>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xmlns=""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xmlns=""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xmlns=""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xmlns="" id="{45FE61D9-DA99-9DA5-5DD2-C4118066CA63}"/>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xmlns="" id="{CE64603E-965E-E3BF-203B-F4D99428203D}"/>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xmlns=""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xmlns=""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xmlns=""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dirty="0"/>
              <a:t>Click icon to add picture</a:t>
            </a:r>
          </a:p>
        </p:txBody>
      </p:sp>
      <p:sp>
        <p:nvSpPr>
          <p:cNvPr id="6" name="Rectangle 5">
            <a:extLst>
              <a:ext uri="{FF2B5EF4-FFF2-40B4-BE49-F238E27FC236}">
                <a16:creationId xmlns:a16="http://schemas.microsoft.com/office/drawing/2014/main" xmlns="" id="{49C76C37-CBD2-36CF-1413-53DD1CB4A545}"/>
              </a:ext>
              <a:ext uri="{C183D7F6-B498-43B3-948B-1728B52AA6E4}">
                <adec:decorative xmlns:adec="http://schemas.microsoft.com/office/drawing/2017/decorative" xmlns=""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510D1AAD-E663-5B8E-CE72-64C1DBF19CE0}"/>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xmlns="" id="{EC250190-89C1-EAA3-6C2A-15A60C6754F5}"/>
              </a:ext>
              <a:ext uri="{C183D7F6-B498-43B3-948B-1728B52AA6E4}">
                <adec:decorative xmlns:adec="http://schemas.microsoft.com/office/drawing/2017/decorative" xmlns=""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xmlns=""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xmlns=""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dirty="0"/>
              <a:t>Click icon to add picture</a:t>
            </a:r>
          </a:p>
        </p:txBody>
      </p:sp>
      <p:sp>
        <p:nvSpPr>
          <p:cNvPr id="6" name="Rectangle 5">
            <a:extLst>
              <a:ext uri="{FF2B5EF4-FFF2-40B4-BE49-F238E27FC236}">
                <a16:creationId xmlns:a16="http://schemas.microsoft.com/office/drawing/2014/main" xmlns="" id="{49C76C37-CBD2-36CF-1413-53DD1CB4A545}"/>
              </a:ext>
              <a:ext uri="{C183D7F6-B498-43B3-948B-1728B52AA6E4}">
                <adec:decorative xmlns:adec="http://schemas.microsoft.com/office/drawing/2017/decorative" xmlns=""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510D1AAD-E663-5B8E-CE72-64C1DBF19CE0}"/>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xmlns="" id="{EC250190-89C1-EAA3-6C2A-15A60C6754F5}"/>
              </a:ext>
              <a:ext uri="{C183D7F6-B498-43B3-948B-1728B52AA6E4}">
                <adec:decorative xmlns:adec="http://schemas.microsoft.com/office/drawing/2017/decorative" xmlns=""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xmlns=""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xmlns=""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xmlns=""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xmlns="" id="{45FE61D9-DA99-9DA5-5DD2-C4118066CA63}"/>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xmlns="" id="{CE64603E-965E-E3BF-203B-F4D99428203D}"/>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xmlns=""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xmlns="" id="{3901905E-33E7-852F-94E3-8E100B3D1E4A}"/>
              </a:ext>
              <a:ext uri="{C183D7F6-B498-43B3-948B-1728B52AA6E4}">
                <adec:decorative xmlns:adec="http://schemas.microsoft.com/office/drawing/2017/decorative" xmlns=""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xmlns="" id="{1B7799F7-CBB1-9649-7D06-F7EEFD4F0183}"/>
              </a:ext>
              <a:ext uri="{C183D7F6-B498-43B3-948B-1728B52AA6E4}">
                <adec:decorative xmlns:adec="http://schemas.microsoft.com/office/drawing/2017/decorative" xmlns=""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B1AFC5CA-DB29-4B8C-C004-72E4EC761C3B}"/>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xmlns=""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xmlns=""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xmlns=""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xmlns=""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xmlns="" id="{94389812-0415-9025-AB21-4503F7DF3AB5}"/>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xmlns="" id="{6459A5A0-86AD-344B-A0E4-6C55958151EE}"/>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xmlns=""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xmlns=""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xmlns=""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xmlns="" id="{94389812-0415-9025-AB21-4503F7DF3AB5}"/>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xmlns="" id="{6459A5A0-86AD-344B-A0E4-6C55958151EE}"/>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xmlns=""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xmlns=""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dirty="0"/>
              <a:t>Click icon to add picture</a:t>
            </a:r>
          </a:p>
        </p:txBody>
      </p:sp>
      <p:sp>
        <p:nvSpPr>
          <p:cNvPr id="12" name="Content Placeholder 7">
            <a:extLst>
              <a:ext uri="{FF2B5EF4-FFF2-40B4-BE49-F238E27FC236}">
                <a16:creationId xmlns:a16="http://schemas.microsoft.com/office/drawing/2014/main" xmlns=""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xmlns=""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xmlns="" id="{94389812-0415-9025-AB21-4503F7DF3AB5}"/>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xmlns="" id="{6459A5A0-86AD-344B-A0E4-6C55958151EE}"/>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xmlns=""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xmlns=""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dirty="0"/>
              <a:t>Click icon to add table</a:t>
            </a:r>
          </a:p>
        </p:txBody>
      </p:sp>
      <p:sp>
        <p:nvSpPr>
          <p:cNvPr id="5" name="Rectangle 4">
            <a:extLst>
              <a:ext uri="{FF2B5EF4-FFF2-40B4-BE49-F238E27FC236}">
                <a16:creationId xmlns:a16="http://schemas.microsoft.com/office/drawing/2014/main" xmlns="" id="{94389812-0415-9025-AB21-4503F7DF3AB5}"/>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xmlns="" id="{6459A5A0-86AD-344B-A0E4-6C55958151EE}"/>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xmlns=""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94389812-0415-9025-AB21-4503F7DF3AB5}"/>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xmlns="" id="{6459A5A0-86AD-344B-A0E4-6C55958151EE}"/>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xmlns=""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xmlns=""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xmlns=""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94389812-0415-9025-AB21-4503F7DF3AB5}"/>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xmlns="" id="{6459A5A0-86AD-344B-A0E4-6C55958151EE}"/>
              </a:ext>
              <a:ext uri="{C183D7F6-B498-43B3-948B-1728B52AA6E4}">
                <adec:decorative xmlns:adec="http://schemas.microsoft.com/office/drawing/2017/decorative" xmlns=""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xmlns=""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xmlns=""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dirty="0"/>
              <a:t>Click icon to add table</a:t>
            </a:r>
          </a:p>
        </p:txBody>
      </p:sp>
      <p:sp>
        <p:nvSpPr>
          <p:cNvPr id="2" name="Slide Number Placeholder 5">
            <a:extLst>
              <a:ext uri="{FF2B5EF4-FFF2-40B4-BE49-F238E27FC236}">
                <a16:creationId xmlns:a16="http://schemas.microsoft.com/office/drawing/2014/main" xmlns=""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E1B5E70F-EF03-B535-2505-BC971E3BC36D}"/>
              </a:ext>
              <a:ext uri="{C183D7F6-B498-43B3-948B-1728B52AA6E4}">
                <adec:decorative xmlns:adec="http://schemas.microsoft.com/office/drawing/2017/decorative" xmlns=""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xmlns="" id="{8794424E-93DD-A404-D05E-EF6030A76D3B}"/>
              </a:ext>
              <a:ext uri="{C183D7F6-B498-43B3-948B-1728B52AA6E4}">
                <adec:decorative xmlns:adec="http://schemas.microsoft.com/office/drawing/2017/decorative" xmlns=""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xmlns="" id="{B03A3B6B-5129-A46A-A20C-5D7BC706C9B1}"/>
              </a:ext>
              <a:ext uri="{C183D7F6-B498-43B3-948B-1728B52AA6E4}">
                <adec:decorative xmlns:adec="http://schemas.microsoft.com/office/drawing/2017/decorative" xmlns=""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xmlns=""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xmlns=""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xmlns=""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xmlns=""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xmlns=""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xmlns=""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454C9E-20FB-B999-9303-C71D1334BAD7}"/>
              </a:ext>
            </a:extLst>
          </p:cNvPr>
          <p:cNvSpPr>
            <a:spLocks noGrp="1"/>
          </p:cNvSpPr>
          <p:nvPr>
            <p:ph type="title"/>
          </p:nvPr>
        </p:nvSpPr>
        <p:spPr>
          <a:xfrm>
            <a:off x="1317615" y="304800"/>
            <a:ext cx="9172585" cy="5740400"/>
          </a:xfrm>
        </p:spPr>
        <p:txBody>
          <a:bodyPr>
            <a:normAutofit/>
          </a:bodyPr>
          <a:lstStyle/>
          <a:p>
            <a:r>
              <a:rPr lang="en-US" sz="8000" b="1" dirty="0" smtClean="0">
                <a:solidFill>
                  <a:schemeClr val="tx1"/>
                </a:solidFill>
                <a:latin typeface="Baskerville Old Face" pitchFamily="18" charset="0"/>
              </a:rPr>
              <a:t>Calories Burned</a:t>
            </a:r>
            <a:br>
              <a:rPr lang="en-US" sz="8000" b="1" dirty="0" smtClean="0">
                <a:solidFill>
                  <a:schemeClr val="tx1"/>
                </a:solidFill>
                <a:latin typeface="Baskerville Old Face" pitchFamily="18" charset="0"/>
              </a:rPr>
            </a:br>
            <a:r>
              <a:rPr lang="en-US" sz="8000" b="1" dirty="0" smtClean="0">
                <a:solidFill>
                  <a:schemeClr val="tx1"/>
                </a:solidFill>
                <a:latin typeface="Baskerville Old Face" pitchFamily="18" charset="0"/>
              </a:rPr>
              <a:t>Prediction</a:t>
            </a:r>
            <a:r>
              <a:rPr lang="en-US" sz="4400" dirty="0" smtClean="0"/>
              <a:t/>
            </a:r>
            <a:br>
              <a:rPr lang="en-US" sz="4400" dirty="0" smtClean="0"/>
            </a:br>
            <a:r>
              <a:rPr lang="en-US" sz="4000" dirty="0" smtClean="0"/>
              <a:t/>
            </a:r>
            <a:br>
              <a:rPr lang="en-US" sz="4000" dirty="0" smtClean="0"/>
            </a:br>
            <a:r>
              <a:rPr lang="en-US" sz="4400" b="1" dirty="0" smtClean="0">
                <a:solidFill>
                  <a:schemeClr val="tx1"/>
                </a:solidFill>
                <a:latin typeface="Bell MT" pitchFamily="18" charset="0"/>
              </a:rPr>
              <a:t>Domain:</a:t>
            </a:r>
            <a:br>
              <a:rPr lang="en-US" sz="4400" b="1" dirty="0" smtClean="0">
                <a:solidFill>
                  <a:schemeClr val="tx1"/>
                </a:solidFill>
                <a:latin typeface="Bell MT" pitchFamily="18" charset="0"/>
              </a:rPr>
            </a:br>
            <a:r>
              <a:rPr lang="en-US" sz="4400" b="1" dirty="0" smtClean="0">
                <a:solidFill>
                  <a:schemeClr val="tx1"/>
                </a:solidFill>
                <a:latin typeface="Bell MT" pitchFamily="18" charset="0"/>
              </a:rPr>
              <a:t>Machine </a:t>
            </a:r>
            <a:r>
              <a:rPr lang="en-US" sz="4400" b="1" dirty="0" smtClean="0">
                <a:solidFill>
                  <a:schemeClr val="tx1"/>
                </a:solidFill>
                <a:latin typeface="Bell MT" pitchFamily="18" charset="0"/>
              </a:rPr>
              <a:t>Learning</a:t>
            </a:r>
            <a:r>
              <a:rPr lang="en-US" sz="3200" b="1" dirty="0" smtClean="0">
                <a:latin typeface="Bell MT" pitchFamily="18" charset="0"/>
              </a:rPr>
              <a:t/>
            </a:r>
            <a:br>
              <a:rPr lang="en-US" sz="3200" b="1" dirty="0" smtClean="0">
                <a:latin typeface="Bell MT" pitchFamily="18" charset="0"/>
              </a:rPr>
            </a:br>
            <a:endParaRPr lang="en-US" dirty="0"/>
          </a:p>
        </p:txBody>
      </p:sp>
    </p:spTree>
    <p:extLst>
      <p:ext uri="{BB962C8B-B14F-4D97-AF65-F5344CB8AC3E}">
        <p14:creationId xmlns:p14="http://schemas.microsoft.com/office/powerpoint/2010/main" xmlns=""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D97761-0B88-A5E8-0B78-C39173D05F4D}"/>
              </a:ext>
            </a:extLst>
          </p:cNvPr>
          <p:cNvSpPr>
            <a:spLocks noGrp="1"/>
          </p:cNvSpPr>
          <p:nvPr>
            <p:ph type="title"/>
          </p:nvPr>
        </p:nvSpPr>
        <p:spPr>
          <a:xfrm>
            <a:off x="957943" y="371474"/>
            <a:ext cx="2917371" cy="752475"/>
          </a:xfrm>
        </p:spPr>
        <p:txBody>
          <a:bodyPr>
            <a:normAutofit fontScale="90000"/>
          </a:bodyPr>
          <a:lstStyle/>
          <a:p>
            <a:r>
              <a:rPr lang="en-US" b="1" dirty="0" smtClean="0">
                <a:latin typeface="Bell MT" pitchFamily="18" charset="0"/>
              </a:rPr>
              <a:t>    </a:t>
            </a:r>
            <a:r>
              <a:rPr lang="en-US" sz="4000" b="1" dirty="0" smtClean="0">
                <a:latin typeface="Bell MT" pitchFamily="18" charset="0"/>
              </a:rPr>
              <a:t>Introduction:</a:t>
            </a:r>
            <a:endParaRPr lang="en-US" sz="4000" b="1" dirty="0">
              <a:latin typeface="Bell MT" pitchFamily="18" charset="0"/>
            </a:endParaRPr>
          </a:p>
        </p:txBody>
      </p:sp>
      <p:sp>
        <p:nvSpPr>
          <p:cNvPr id="3" name="Content Placeholder 2">
            <a:extLst>
              <a:ext uri="{FF2B5EF4-FFF2-40B4-BE49-F238E27FC236}">
                <a16:creationId xmlns:a16="http://schemas.microsoft.com/office/drawing/2014/main" xmlns="" id="{02BA04E6-CD61-B962-4287-DEC1993C32D6}"/>
              </a:ext>
            </a:extLst>
          </p:cNvPr>
          <p:cNvSpPr>
            <a:spLocks noGrp="1"/>
          </p:cNvSpPr>
          <p:nvPr>
            <p:ph sz="quarter" idx="12"/>
          </p:nvPr>
        </p:nvSpPr>
        <p:spPr>
          <a:xfrm>
            <a:off x="1045029" y="1123950"/>
            <a:ext cx="6386285" cy="4783364"/>
          </a:xfrm>
        </p:spPr>
        <p:txBody>
          <a:bodyPr/>
          <a:lstStyle/>
          <a:p>
            <a:pPr>
              <a:buNone/>
            </a:pPr>
            <a:r>
              <a:rPr lang="en-US" dirty="0" smtClean="0">
                <a:latin typeface="Bell MT" pitchFamily="18" charset="0"/>
              </a:rPr>
              <a:t>    In </a:t>
            </a:r>
            <a:r>
              <a:rPr lang="en-US" dirty="0" smtClean="0">
                <a:latin typeface="Bell MT" pitchFamily="18" charset="0"/>
              </a:rPr>
              <a:t>today's fast-paced world, individuals increasingly rely on wearable fitness trackers and mobile applications to monitor their physical activity and track the number of calories burned. Regular exercise and diet tracking have become essential aspects of many people's daily routines. People are very interested in understanding the balance between the calories they consume through their diet and the calories they burn through various physical activities and exercises. For example, they want to know how many calories they intake when they eat specific foods and how many calories they burn during different exercises. This information helps them maintain a healthy lifestyle and achieve their fitness goals.</a:t>
            </a:r>
            <a:endParaRPr lang="en-US" dirty="0">
              <a:latin typeface="Bell MT" pitchFamily="18" charset="0"/>
            </a:endParaRPr>
          </a:p>
        </p:txBody>
      </p:sp>
      <p:sp>
        <p:nvSpPr>
          <p:cNvPr id="4" name="Slide Number Placeholder 3">
            <a:extLst>
              <a:ext uri="{FF2B5EF4-FFF2-40B4-BE49-F238E27FC236}">
                <a16:creationId xmlns:a16="http://schemas.microsoft.com/office/drawing/2014/main" xmlns=""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pic>
        <p:nvPicPr>
          <p:cNvPr id="13314" name="Picture 2" descr="Calories Burned During Exercise - Calorie Calculator"/>
          <p:cNvPicPr>
            <a:picLocks noChangeAspect="1" noChangeArrowheads="1"/>
          </p:cNvPicPr>
          <p:nvPr/>
        </p:nvPicPr>
        <p:blipFill>
          <a:blip r:embed="rId2"/>
          <a:srcRect/>
          <a:stretch>
            <a:fillRect/>
          </a:stretch>
        </p:blipFill>
        <p:spPr bwMode="auto">
          <a:xfrm>
            <a:off x="7986506" y="246744"/>
            <a:ext cx="3951596" cy="6212114"/>
          </a:xfrm>
          <a:prstGeom prst="rect">
            <a:avLst/>
          </a:prstGeom>
          <a:noFill/>
        </p:spPr>
      </p:pic>
    </p:spTree>
    <p:extLst>
      <p:ext uri="{BB962C8B-B14F-4D97-AF65-F5344CB8AC3E}">
        <p14:creationId xmlns:p14="http://schemas.microsoft.com/office/powerpoint/2010/main" xmlns=""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4C0FEFBF-60FD-0161-6F6E-89EE39389CEE}"/>
              </a:ext>
            </a:extLst>
          </p:cNvPr>
          <p:cNvSpPr>
            <a:spLocks noGrp="1"/>
          </p:cNvSpPr>
          <p:nvPr>
            <p:ph type="title"/>
          </p:nvPr>
        </p:nvSpPr>
        <p:spPr>
          <a:xfrm>
            <a:off x="957943" y="3788229"/>
            <a:ext cx="4775200" cy="783771"/>
          </a:xfrm>
        </p:spPr>
        <p:txBody>
          <a:bodyPr/>
          <a:lstStyle/>
          <a:p>
            <a:r>
              <a:rPr lang="en-US" b="1" dirty="0" smtClean="0">
                <a:latin typeface="Bell MT" pitchFamily="18" charset="0"/>
              </a:rPr>
              <a:t>Technologies Used:</a:t>
            </a:r>
            <a:endParaRPr lang="en-ZA" dirty="0">
              <a:latin typeface="Bell MT" pitchFamily="18" charset="0"/>
            </a:endParaRPr>
          </a:p>
        </p:txBody>
      </p:sp>
      <p:pic>
        <p:nvPicPr>
          <p:cNvPr id="11266" name="Picture 2" descr="How Does Architecture Integrate Technology And Digital Innovation ..."/>
          <p:cNvPicPr>
            <a:picLocks noGrp="1" noChangeAspect="1" noChangeArrowheads="1"/>
          </p:cNvPicPr>
          <p:nvPr>
            <p:ph type="pic" sz="quarter" idx="13"/>
          </p:nvPr>
        </p:nvPicPr>
        <p:blipFill>
          <a:blip r:embed="rId2"/>
          <a:srcRect t="21955" b="21955"/>
          <a:stretch>
            <a:fillRect/>
          </a:stretch>
        </p:blipFill>
        <p:spPr bwMode="auto">
          <a:xfrm>
            <a:off x="915600" y="0"/>
            <a:ext cx="11276400" cy="3731596"/>
          </a:xfrm>
          <a:prstGeom prst="rect">
            <a:avLst/>
          </a:prstGeom>
          <a:noFill/>
        </p:spPr>
      </p:pic>
      <p:sp>
        <p:nvSpPr>
          <p:cNvPr id="9" name="Text Placeholder 8"/>
          <p:cNvSpPr>
            <a:spLocks noGrp="1"/>
          </p:cNvSpPr>
          <p:nvPr>
            <p:ph type="body" sz="quarter" idx="12"/>
          </p:nvPr>
        </p:nvSpPr>
        <p:spPr>
          <a:xfrm>
            <a:off x="1277257" y="4601029"/>
            <a:ext cx="10000341" cy="1995715"/>
          </a:xfrm>
        </p:spPr>
        <p:txBody>
          <a:bodyPr>
            <a:noAutofit/>
          </a:bodyPr>
          <a:lstStyle/>
          <a:p>
            <a:pPr>
              <a:buFont typeface="Wingdings" pitchFamily="2" charset="2"/>
              <a:buChar char="q"/>
            </a:pPr>
            <a:r>
              <a:rPr lang="en-US" sz="2400" dirty="0" smtClean="0">
                <a:latin typeface="Bell MT" pitchFamily="18" charset="0"/>
              </a:rPr>
              <a:t>Python</a:t>
            </a:r>
          </a:p>
          <a:p>
            <a:pPr>
              <a:buFont typeface="Wingdings" pitchFamily="2" charset="2"/>
              <a:buChar char="q"/>
            </a:pPr>
            <a:r>
              <a:rPr lang="en-US" sz="2400" dirty="0" smtClean="0">
                <a:latin typeface="Bell MT" pitchFamily="18" charset="0"/>
              </a:rPr>
              <a:t>Flask</a:t>
            </a:r>
          </a:p>
          <a:p>
            <a:pPr>
              <a:buFont typeface="Wingdings" pitchFamily="2" charset="2"/>
              <a:buChar char="q"/>
            </a:pPr>
            <a:r>
              <a:rPr lang="en-US" sz="2400" dirty="0" smtClean="0">
                <a:latin typeface="Bell MT" pitchFamily="18" charset="0"/>
              </a:rPr>
              <a:t>Pandas</a:t>
            </a:r>
          </a:p>
          <a:p>
            <a:pPr>
              <a:buFont typeface="Wingdings" pitchFamily="2" charset="2"/>
              <a:buChar char="q"/>
            </a:pPr>
            <a:r>
              <a:rPr lang="en-US" sz="2400" dirty="0" smtClean="0">
                <a:latin typeface="Bell MT" pitchFamily="18" charset="0"/>
              </a:rPr>
              <a:t>pickle-</a:t>
            </a:r>
            <a:r>
              <a:rPr lang="en-US" sz="2400" dirty="0" err="1" smtClean="0">
                <a:latin typeface="Bell MT" pitchFamily="18" charset="0"/>
              </a:rPr>
              <a:t>mixin</a:t>
            </a:r>
            <a:endParaRPr lang="en-US" sz="2400" dirty="0" smtClean="0">
              <a:latin typeface="Bell MT" pitchFamily="18" charset="0"/>
            </a:endParaRPr>
          </a:p>
          <a:p>
            <a:pPr>
              <a:buFont typeface="Wingdings" pitchFamily="2" charset="2"/>
              <a:buChar char="q"/>
            </a:pPr>
            <a:r>
              <a:rPr lang="en-US" sz="2400" dirty="0" err="1" smtClean="0">
                <a:latin typeface="Bell MT" pitchFamily="18" charset="0"/>
              </a:rPr>
              <a:t>scikit</a:t>
            </a:r>
            <a:r>
              <a:rPr lang="en-US" sz="2400" dirty="0" smtClean="0">
                <a:latin typeface="Bell MT" pitchFamily="18" charset="0"/>
              </a:rPr>
              <a:t>-learn</a:t>
            </a:r>
          </a:p>
          <a:p>
            <a:pPr>
              <a:buFont typeface="Wingdings" pitchFamily="2" charset="2"/>
              <a:buChar char="q"/>
            </a:pPr>
            <a:r>
              <a:rPr lang="en-US" sz="2400" dirty="0" err="1" smtClean="0">
                <a:latin typeface="Bell MT" pitchFamily="18" charset="0"/>
              </a:rPr>
              <a:t>Xgboost</a:t>
            </a:r>
            <a:endParaRPr lang="en-US" sz="2400" dirty="0" smtClean="0">
              <a:latin typeface="Bell MT" pitchFamily="18" charset="0"/>
            </a:endParaRPr>
          </a:p>
          <a:p>
            <a:pPr>
              <a:buFont typeface="Wingdings" pitchFamily="2" charset="2"/>
              <a:buChar char="q"/>
            </a:pPr>
            <a:r>
              <a:rPr lang="en-US" sz="2400" dirty="0" err="1" smtClean="0">
                <a:latin typeface="Bell MT" pitchFamily="18" charset="0"/>
              </a:rPr>
              <a:t>werkzeug</a:t>
            </a:r>
            <a:endParaRPr lang="en-US" sz="2400" dirty="0">
              <a:latin typeface="Bell MT" pitchFamily="18" charset="0"/>
            </a:endParaRPr>
          </a:p>
        </p:txBody>
      </p:sp>
    </p:spTree>
    <p:extLst>
      <p:ext uri="{BB962C8B-B14F-4D97-AF65-F5344CB8AC3E}">
        <p14:creationId xmlns:p14="http://schemas.microsoft.com/office/powerpoint/2010/main" xmlns="" val="3421680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89D0E47E-D228-15EB-5886-33E9AA181D03}"/>
              </a:ext>
            </a:extLst>
          </p:cNvPr>
          <p:cNvSpPr>
            <a:spLocks noGrp="1"/>
          </p:cNvSpPr>
          <p:nvPr>
            <p:ph type="title"/>
          </p:nvPr>
        </p:nvSpPr>
        <p:spPr>
          <a:xfrm>
            <a:off x="1132114" y="0"/>
            <a:ext cx="7039429" cy="6604000"/>
          </a:xfrm>
        </p:spPr>
        <p:txBody>
          <a:bodyPr>
            <a:normAutofit fontScale="90000"/>
          </a:bodyPr>
          <a:lstStyle/>
          <a:p>
            <a:r>
              <a:rPr lang="en-US" sz="4000" b="1" dirty="0" smtClean="0">
                <a:latin typeface="Bell MT" pitchFamily="18" charset="0"/>
              </a:rPr>
              <a:t>PROCESS:</a:t>
            </a:r>
            <a:r>
              <a:rPr lang="en-US" sz="2000" dirty="0" smtClean="0">
                <a:latin typeface="Bell MT" pitchFamily="18" charset="0"/>
              </a:rPr>
              <a:t/>
            </a:r>
            <a:br>
              <a:rPr lang="en-US" sz="2000" dirty="0" smtClean="0">
                <a:latin typeface="Bell MT" pitchFamily="18" charset="0"/>
              </a:rPr>
            </a:br>
            <a:r>
              <a:rPr lang="en-US" sz="2000" dirty="0" smtClean="0">
                <a:latin typeface="Bell MT" pitchFamily="18" charset="0"/>
              </a:rPr>
              <a:t>In this project, we will be using the </a:t>
            </a:r>
            <a:r>
              <a:rPr lang="en-US" sz="2000" dirty="0" err="1" smtClean="0">
                <a:latin typeface="Bell MT" pitchFamily="18" charset="0"/>
              </a:rPr>
              <a:t>XGBoost</a:t>
            </a:r>
            <a:r>
              <a:rPr lang="en-US" sz="2000" dirty="0" smtClean="0">
                <a:latin typeface="Bell MT" pitchFamily="18" charset="0"/>
              </a:rPr>
              <a:t> </a:t>
            </a:r>
            <a:r>
              <a:rPr lang="en-US" sz="2000" dirty="0" err="1" smtClean="0">
                <a:latin typeface="Bell MT" pitchFamily="18" charset="0"/>
              </a:rPr>
              <a:t>Regressor</a:t>
            </a:r>
            <a:r>
              <a:rPr lang="en-US" sz="2000" dirty="0" smtClean="0">
                <a:latin typeface="Bell MT" pitchFamily="18" charset="0"/>
              </a:rPr>
              <a:t> to train our machine learning algorithm. Here is the workflow that we will follow:</a:t>
            </a:r>
            <a:br>
              <a:rPr lang="en-US" sz="2000" dirty="0" smtClean="0">
                <a:latin typeface="Bell MT" pitchFamily="18" charset="0"/>
              </a:rPr>
            </a:br>
            <a:r>
              <a:rPr lang="en-US" sz="2000" b="1" dirty="0" smtClean="0">
                <a:latin typeface="Bell MT" pitchFamily="18" charset="0"/>
              </a:rPr>
              <a:t>Data Collection</a:t>
            </a:r>
            <a:r>
              <a:rPr lang="en-US" sz="2000" dirty="0" smtClean="0">
                <a:latin typeface="Bell MT" pitchFamily="18" charset="0"/>
              </a:rPr>
              <a:t>:</a:t>
            </a:r>
            <a:br>
              <a:rPr lang="en-US" sz="2000" dirty="0" smtClean="0">
                <a:latin typeface="Bell MT" pitchFamily="18" charset="0"/>
              </a:rPr>
            </a:br>
            <a:r>
              <a:rPr lang="en-US" sz="2000" dirty="0" smtClean="0">
                <a:latin typeface="Bell MT" pitchFamily="18" charset="0"/>
              </a:rPr>
              <a:t>Gather the necessary data for training our machine learning model. This data should include features like age, height, weight, duration of exercise, heart rate, body temperature, and gender.</a:t>
            </a:r>
            <a:br>
              <a:rPr lang="en-US" sz="2000" dirty="0" smtClean="0">
                <a:latin typeface="Bell MT" pitchFamily="18" charset="0"/>
              </a:rPr>
            </a:br>
            <a:r>
              <a:rPr lang="en-US" sz="2000" b="1" dirty="0" smtClean="0">
                <a:latin typeface="Bell MT" pitchFamily="18" charset="0"/>
              </a:rPr>
              <a:t>Data Preprocessing</a:t>
            </a:r>
            <a:r>
              <a:rPr lang="en-US" sz="2000" dirty="0" smtClean="0">
                <a:latin typeface="Bell MT" pitchFamily="18" charset="0"/>
              </a:rPr>
              <a:t>:</a:t>
            </a:r>
            <a:br>
              <a:rPr lang="en-US" sz="2000" dirty="0" smtClean="0">
                <a:latin typeface="Bell MT" pitchFamily="18" charset="0"/>
              </a:rPr>
            </a:br>
            <a:r>
              <a:rPr lang="en-US" sz="2000" dirty="0" smtClean="0">
                <a:latin typeface="Bell MT" pitchFamily="18" charset="0"/>
              </a:rPr>
              <a:t>Clean and preprocess the data to ensure it's in the right format for training. This may include handling missing values, encoding categorical variables (like gender), and normalizing or scaling the features.</a:t>
            </a:r>
            <a:br>
              <a:rPr lang="en-US" sz="2000" dirty="0" smtClean="0">
                <a:latin typeface="Bell MT" pitchFamily="18" charset="0"/>
              </a:rPr>
            </a:br>
            <a:r>
              <a:rPr lang="en-US" sz="2000" b="1" dirty="0" smtClean="0">
                <a:latin typeface="Bell MT" pitchFamily="18" charset="0"/>
              </a:rPr>
              <a:t>Model Training</a:t>
            </a:r>
            <a:r>
              <a:rPr lang="en-US" sz="2000" dirty="0" smtClean="0">
                <a:latin typeface="Bell MT" pitchFamily="18" charset="0"/>
              </a:rPr>
              <a:t>:</a:t>
            </a:r>
            <a:br>
              <a:rPr lang="en-US" sz="2000" dirty="0" smtClean="0">
                <a:latin typeface="Bell MT" pitchFamily="18" charset="0"/>
              </a:rPr>
            </a:br>
            <a:r>
              <a:rPr lang="en-US" sz="2000" dirty="0" smtClean="0">
                <a:latin typeface="Bell MT" pitchFamily="18" charset="0"/>
              </a:rPr>
              <a:t>Train the </a:t>
            </a:r>
            <a:r>
              <a:rPr lang="en-US" sz="2000" dirty="0" err="1" smtClean="0">
                <a:latin typeface="Bell MT" pitchFamily="18" charset="0"/>
              </a:rPr>
              <a:t>XGBoost</a:t>
            </a:r>
            <a:r>
              <a:rPr lang="en-US" sz="2000" dirty="0" smtClean="0">
                <a:latin typeface="Bell MT" pitchFamily="18" charset="0"/>
              </a:rPr>
              <a:t> </a:t>
            </a:r>
            <a:r>
              <a:rPr lang="en-US" sz="2000" dirty="0" err="1" smtClean="0">
                <a:latin typeface="Bell MT" pitchFamily="18" charset="0"/>
              </a:rPr>
              <a:t>Regressor</a:t>
            </a:r>
            <a:r>
              <a:rPr lang="en-US" sz="2000" dirty="0" smtClean="0">
                <a:latin typeface="Bell MT" pitchFamily="18" charset="0"/>
              </a:rPr>
              <a:t> using the preprocessed training data. The </a:t>
            </a:r>
            <a:r>
              <a:rPr lang="en-US" sz="2000" dirty="0" err="1" smtClean="0">
                <a:latin typeface="Bell MT" pitchFamily="18" charset="0"/>
              </a:rPr>
              <a:t>XGBoost</a:t>
            </a:r>
            <a:r>
              <a:rPr lang="en-US" sz="2000" dirty="0" smtClean="0">
                <a:latin typeface="Bell MT" pitchFamily="18" charset="0"/>
              </a:rPr>
              <a:t> </a:t>
            </a:r>
            <a:r>
              <a:rPr lang="en-US" sz="2000" dirty="0" err="1" smtClean="0">
                <a:latin typeface="Bell MT" pitchFamily="18" charset="0"/>
              </a:rPr>
              <a:t>Regressor</a:t>
            </a:r>
            <a:r>
              <a:rPr lang="en-US" sz="2000" dirty="0" smtClean="0">
                <a:latin typeface="Bell MT" pitchFamily="18" charset="0"/>
              </a:rPr>
              <a:t> is chosen because this is a regression problem where we aim to predict the number of calories burned based on the input features.</a:t>
            </a:r>
            <a:br>
              <a:rPr lang="en-US" sz="2000" dirty="0" smtClean="0">
                <a:latin typeface="Bell MT" pitchFamily="18" charset="0"/>
              </a:rPr>
            </a:br>
            <a:r>
              <a:rPr lang="en-US" sz="2000" b="1" dirty="0" smtClean="0">
                <a:latin typeface="Bell MT" pitchFamily="18" charset="0"/>
              </a:rPr>
              <a:t>Model Evaluation</a:t>
            </a:r>
            <a:r>
              <a:rPr lang="en-US" sz="2000" dirty="0" smtClean="0">
                <a:latin typeface="Bell MT" pitchFamily="18" charset="0"/>
              </a:rPr>
              <a:t>:</a:t>
            </a:r>
            <a:br>
              <a:rPr lang="en-US" sz="2000" dirty="0" smtClean="0">
                <a:latin typeface="Bell MT" pitchFamily="18" charset="0"/>
              </a:rPr>
            </a:br>
            <a:r>
              <a:rPr lang="en-US" sz="2000" dirty="0" smtClean="0">
                <a:latin typeface="Bell MT" pitchFamily="18" charset="0"/>
              </a:rPr>
              <a:t>Evaluate the performance of the trained </a:t>
            </a:r>
            <a:r>
              <a:rPr lang="en-US" sz="2000" dirty="0" err="1" smtClean="0">
                <a:latin typeface="Bell MT" pitchFamily="18" charset="0"/>
              </a:rPr>
              <a:t>XGBoost</a:t>
            </a:r>
            <a:r>
              <a:rPr lang="en-US" sz="2000" dirty="0" smtClean="0">
                <a:latin typeface="Bell MT" pitchFamily="18" charset="0"/>
              </a:rPr>
              <a:t> </a:t>
            </a:r>
            <a:r>
              <a:rPr lang="en-US" sz="2000" dirty="0" err="1" smtClean="0">
                <a:latin typeface="Bell MT" pitchFamily="18" charset="0"/>
              </a:rPr>
              <a:t>Regressor</a:t>
            </a:r>
            <a:r>
              <a:rPr lang="en-US" sz="2000" dirty="0" smtClean="0">
                <a:latin typeface="Bell MT" pitchFamily="18" charset="0"/>
              </a:rPr>
              <a:t> using a test dataset. This will help us understand how well our model generalizes to new, unseen data.</a:t>
            </a:r>
            <a:br>
              <a:rPr lang="en-US" sz="2000" dirty="0" smtClean="0">
                <a:latin typeface="Bell MT" pitchFamily="18" charset="0"/>
              </a:rPr>
            </a:br>
            <a:r>
              <a:rPr lang="en-US" sz="2000" b="1" dirty="0" smtClean="0">
                <a:latin typeface="Bell MT" pitchFamily="18" charset="0"/>
              </a:rPr>
              <a:t>Model Deployment</a:t>
            </a:r>
            <a:r>
              <a:rPr lang="en-US" sz="2000" dirty="0" smtClean="0">
                <a:latin typeface="Bell MT" pitchFamily="18" charset="0"/>
              </a:rPr>
              <a:t>:</a:t>
            </a:r>
            <a:br>
              <a:rPr lang="en-US" sz="2000" dirty="0" smtClean="0">
                <a:latin typeface="Bell MT" pitchFamily="18" charset="0"/>
              </a:rPr>
            </a:br>
            <a:r>
              <a:rPr lang="en-US" sz="2000" dirty="0" smtClean="0">
                <a:latin typeface="Bell MT" pitchFamily="18" charset="0"/>
              </a:rPr>
              <a:t>Once the model is trained and evaluated, we can save it using pickle and deploy it in our Flask application to make predictions based on user inputs.</a:t>
            </a:r>
            <a:br>
              <a:rPr lang="en-US" sz="2000" dirty="0" smtClean="0">
                <a:latin typeface="Bell MT" pitchFamily="18" charset="0"/>
              </a:rPr>
            </a:br>
            <a:endParaRPr lang="en-US" sz="2000" dirty="0">
              <a:latin typeface="Bell MT" pitchFamily="18" charset="0"/>
            </a:endParaRPr>
          </a:p>
        </p:txBody>
      </p:sp>
      <p:pic>
        <p:nvPicPr>
          <p:cNvPr id="6" name="Picture 4" descr="Perder peso. personaje de dibujos animados de nutricionista femenino ..."/>
          <p:cNvPicPr>
            <a:picLocks noGrp="1" noChangeAspect="1" noChangeArrowheads="1"/>
          </p:cNvPicPr>
          <p:nvPr>
            <p:ph type="pic" sz="quarter" idx="13"/>
          </p:nvPr>
        </p:nvPicPr>
        <p:blipFill>
          <a:blip r:embed="rId2"/>
          <a:srcRect l="16204" r="16204"/>
          <a:stretch>
            <a:fillRect/>
          </a:stretch>
        </p:blipFill>
        <p:spPr bwMode="auto">
          <a:xfrm>
            <a:off x="8447315" y="0"/>
            <a:ext cx="4339772" cy="6857999"/>
          </a:xfrm>
          <a:prstGeom prst="rect">
            <a:avLst/>
          </a:prstGeom>
          <a:noFill/>
        </p:spPr>
      </p:pic>
    </p:spTree>
    <p:extLst>
      <p:ext uri="{BB962C8B-B14F-4D97-AF65-F5344CB8AC3E}">
        <p14:creationId xmlns:p14="http://schemas.microsoft.com/office/powerpoint/2010/main" xmlns="" val="3752118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DEBC60-AA38-5DEF-3160-0CAA68F3D28C}"/>
              </a:ext>
            </a:extLst>
          </p:cNvPr>
          <p:cNvSpPr>
            <a:spLocks noGrp="1"/>
          </p:cNvSpPr>
          <p:nvPr>
            <p:ph type="title"/>
          </p:nvPr>
        </p:nvSpPr>
        <p:spPr>
          <a:xfrm>
            <a:off x="1468815" y="503850"/>
            <a:ext cx="2812899" cy="729863"/>
          </a:xfrm>
        </p:spPr>
        <p:txBody>
          <a:bodyPr>
            <a:normAutofit/>
          </a:bodyPr>
          <a:lstStyle/>
          <a:p>
            <a:r>
              <a:rPr lang="en-ZA" dirty="0" smtClean="0"/>
              <a:t>.</a:t>
            </a:r>
            <a:endParaRPr lang="en-ZA" dirty="0"/>
          </a:p>
        </p:txBody>
      </p:sp>
      <p:sp>
        <p:nvSpPr>
          <p:cNvPr id="3" name="Content Placeholder 2">
            <a:extLst>
              <a:ext uri="{FF2B5EF4-FFF2-40B4-BE49-F238E27FC236}">
                <a16:creationId xmlns:a16="http://schemas.microsoft.com/office/drawing/2014/main" xmlns="" id="{1EBEE570-1B5E-FFD1-485D-D77E4E6FE7C0}"/>
              </a:ext>
            </a:extLst>
          </p:cNvPr>
          <p:cNvSpPr>
            <a:spLocks noGrp="1"/>
          </p:cNvSpPr>
          <p:nvPr>
            <p:ph sz="quarter" idx="12"/>
          </p:nvPr>
        </p:nvSpPr>
        <p:spPr>
          <a:xfrm>
            <a:off x="1450153" y="2108722"/>
            <a:ext cx="8552264" cy="4119463"/>
          </a:xfrm>
        </p:spPr>
        <p:txBody>
          <a:bodyPr/>
          <a:lstStyle/>
          <a:p>
            <a:r>
              <a:rPr lang="en-US" dirty="0" smtClean="0"/>
              <a:t>.</a:t>
            </a:r>
            <a:endParaRPr lang="en-US" dirty="0"/>
          </a:p>
        </p:txBody>
      </p:sp>
      <p:sp>
        <p:nvSpPr>
          <p:cNvPr id="4" name="Slide Number Placeholder 3">
            <a:extLst>
              <a:ext uri="{FF2B5EF4-FFF2-40B4-BE49-F238E27FC236}">
                <a16:creationId xmlns:a16="http://schemas.microsoft.com/office/drawing/2014/main" xmlns="" id="{527C964F-E2D5-D8E7-C513-C47A7E409DF3}"/>
              </a:ext>
            </a:extLst>
          </p:cNvPr>
          <p:cNvSpPr>
            <a:spLocks noGrp="1"/>
          </p:cNvSpPr>
          <p:nvPr>
            <p:ph type="sldNum" sz="quarter" idx="15"/>
          </p:nvPr>
        </p:nvSpPr>
        <p:spPr/>
        <p:txBody>
          <a:bodyPr/>
          <a:lstStyle/>
          <a:p>
            <a:fld id="{18D65601-5AE2-46FC-B138-694DDD2B510D}" type="slidenum">
              <a:rPr lang="en-US" smtClean="0"/>
              <a:pPr/>
              <a:t>5</a:t>
            </a:fld>
            <a:endParaRPr lang="en-US" dirty="0"/>
          </a:p>
        </p:txBody>
      </p:sp>
      <p:pic>
        <p:nvPicPr>
          <p:cNvPr id="5" name="Picture 4" descr="Figure_1.png"/>
          <p:cNvPicPr>
            <a:picLocks noChangeAspect="1"/>
          </p:cNvPicPr>
          <p:nvPr/>
        </p:nvPicPr>
        <p:blipFill>
          <a:blip r:embed="rId2"/>
          <a:stretch>
            <a:fillRect/>
          </a:stretch>
        </p:blipFill>
        <p:spPr>
          <a:xfrm>
            <a:off x="1233715" y="0"/>
            <a:ext cx="3201858" cy="2401394"/>
          </a:xfrm>
          <a:prstGeom prst="rect">
            <a:avLst/>
          </a:prstGeom>
        </p:spPr>
      </p:pic>
      <p:pic>
        <p:nvPicPr>
          <p:cNvPr id="6" name="Picture 5" descr="Figure_2.png"/>
          <p:cNvPicPr>
            <a:picLocks noChangeAspect="1"/>
          </p:cNvPicPr>
          <p:nvPr/>
        </p:nvPicPr>
        <p:blipFill>
          <a:blip r:embed="rId3"/>
          <a:stretch>
            <a:fillRect/>
          </a:stretch>
        </p:blipFill>
        <p:spPr>
          <a:xfrm>
            <a:off x="9913257" y="3773714"/>
            <a:ext cx="2278743" cy="2635545"/>
          </a:xfrm>
          <a:prstGeom prst="rect">
            <a:avLst/>
          </a:prstGeom>
        </p:spPr>
      </p:pic>
      <p:pic>
        <p:nvPicPr>
          <p:cNvPr id="7" name="Picture 6" descr="Figure_3.png"/>
          <p:cNvPicPr>
            <a:picLocks noChangeAspect="1"/>
          </p:cNvPicPr>
          <p:nvPr/>
        </p:nvPicPr>
        <p:blipFill>
          <a:blip r:embed="rId4"/>
          <a:stretch>
            <a:fillRect/>
          </a:stretch>
        </p:blipFill>
        <p:spPr>
          <a:xfrm>
            <a:off x="1120051" y="3802743"/>
            <a:ext cx="3219719" cy="2612572"/>
          </a:xfrm>
          <a:prstGeom prst="rect">
            <a:avLst/>
          </a:prstGeom>
        </p:spPr>
      </p:pic>
      <p:pic>
        <p:nvPicPr>
          <p:cNvPr id="8" name="Picture 7" descr="Figure_4.png"/>
          <p:cNvPicPr>
            <a:picLocks noChangeAspect="1"/>
          </p:cNvPicPr>
          <p:nvPr/>
        </p:nvPicPr>
        <p:blipFill>
          <a:blip r:embed="rId5"/>
          <a:stretch>
            <a:fillRect/>
          </a:stretch>
        </p:blipFill>
        <p:spPr>
          <a:xfrm>
            <a:off x="9989396" y="0"/>
            <a:ext cx="2202604" cy="2409371"/>
          </a:xfrm>
          <a:prstGeom prst="rect">
            <a:avLst/>
          </a:prstGeom>
        </p:spPr>
      </p:pic>
      <p:pic>
        <p:nvPicPr>
          <p:cNvPr id="9" name="Picture 8" descr="Figure_5.png"/>
          <p:cNvPicPr>
            <a:picLocks noChangeAspect="1"/>
          </p:cNvPicPr>
          <p:nvPr/>
        </p:nvPicPr>
        <p:blipFill>
          <a:blip r:embed="rId6"/>
          <a:stretch>
            <a:fillRect/>
          </a:stretch>
        </p:blipFill>
        <p:spPr>
          <a:xfrm>
            <a:off x="4656738" y="0"/>
            <a:ext cx="2555804" cy="2394857"/>
          </a:xfrm>
          <a:prstGeom prst="rect">
            <a:avLst/>
          </a:prstGeom>
        </p:spPr>
      </p:pic>
      <p:pic>
        <p:nvPicPr>
          <p:cNvPr id="10" name="Picture 9" descr="Figure_6.png"/>
          <p:cNvPicPr>
            <a:picLocks noChangeAspect="1"/>
          </p:cNvPicPr>
          <p:nvPr/>
        </p:nvPicPr>
        <p:blipFill>
          <a:blip r:embed="rId7"/>
          <a:stretch>
            <a:fillRect/>
          </a:stretch>
        </p:blipFill>
        <p:spPr>
          <a:xfrm>
            <a:off x="7402286" y="0"/>
            <a:ext cx="2388999" cy="2423886"/>
          </a:xfrm>
          <a:prstGeom prst="rect">
            <a:avLst/>
          </a:prstGeom>
        </p:spPr>
      </p:pic>
      <p:pic>
        <p:nvPicPr>
          <p:cNvPr id="11" name="Picture 10" descr="Figure_7.png"/>
          <p:cNvPicPr>
            <a:picLocks noChangeAspect="1"/>
          </p:cNvPicPr>
          <p:nvPr/>
        </p:nvPicPr>
        <p:blipFill>
          <a:blip r:embed="rId8"/>
          <a:stretch>
            <a:fillRect/>
          </a:stretch>
        </p:blipFill>
        <p:spPr>
          <a:xfrm>
            <a:off x="4637423" y="3846286"/>
            <a:ext cx="2503605" cy="2601804"/>
          </a:xfrm>
          <a:prstGeom prst="rect">
            <a:avLst/>
          </a:prstGeom>
        </p:spPr>
      </p:pic>
      <p:pic>
        <p:nvPicPr>
          <p:cNvPr id="12" name="Picture 11" descr="Figure_9.png"/>
          <p:cNvPicPr>
            <a:picLocks noChangeAspect="1"/>
          </p:cNvPicPr>
          <p:nvPr/>
        </p:nvPicPr>
        <p:blipFill>
          <a:blip r:embed="rId9"/>
          <a:stretch>
            <a:fillRect/>
          </a:stretch>
        </p:blipFill>
        <p:spPr>
          <a:xfrm>
            <a:off x="7373257" y="3918857"/>
            <a:ext cx="2322285" cy="2504387"/>
          </a:xfrm>
          <a:prstGeom prst="rect">
            <a:avLst/>
          </a:prstGeom>
        </p:spPr>
      </p:pic>
      <p:sp>
        <p:nvSpPr>
          <p:cNvPr id="14" name="TextBox 13"/>
          <p:cNvSpPr txBox="1"/>
          <p:nvPr/>
        </p:nvSpPr>
        <p:spPr>
          <a:xfrm>
            <a:off x="1161143" y="2598056"/>
            <a:ext cx="10406743" cy="1077218"/>
          </a:xfrm>
          <a:prstGeom prst="rect">
            <a:avLst/>
          </a:prstGeom>
          <a:noFill/>
        </p:spPr>
        <p:txBody>
          <a:bodyPr wrap="square" rtlCol="0">
            <a:spAutoFit/>
          </a:bodyPr>
          <a:lstStyle/>
          <a:p>
            <a:r>
              <a:rPr lang="en-US" sz="3200" b="1" dirty="0" smtClean="0">
                <a:latin typeface="Bell MT" pitchFamily="18" charset="0"/>
              </a:rPr>
              <a:t>Statistical Measures of Data Sets</a:t>
            </a:r>
          </a:p>
          <a:p>
            <a:r>
              <a:rPr lang="en-US" sz="3200" dirty="0" smtClean="0">
                <a:latin typeface="Bell MT" pitchFamily="18" charset="0"/>
              </a:rPr>
              <a:t>In Graphical Representation.</a:t>
            </a:r>
            <a:endParaRPr lang="en-US" sz="3200" dirty="0">
              <a:latin typeface="Bell MT" pitchFamily="18" charset="0"/>
            </a:endParaRPr>
          </a:p>
        </p:txBody>
      </p:sp>
    </p:spTree>
    <p:extLst>
      <p:ext uri="{BB962C8B-B14F-4D97-AF65-F5344CB8AC3E}">
        <p14:creationId xmlns:p14="http://schemas.microsoft.com/office/powerpoint/2010/main" xmlns="" val="290615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7215" y="364153"/>
            <a:ext cx="9150675" cy="791548"/>
          </a:xfrm>
        </p:spPr>
        <p:txBody>
          <a:bodyPr>
            <a:normAutofit fontScale="90000"/>
          </a:bodyPr>
          <a:lstStyle/>
          <a:p>
            <a:r>
              <a:rPr lang="en-US" sz="6000" b="1" dirty="0" smtClean="0">
                <a:latin typeface="Bell MT" pitchFamily="18" charset="0"/>
              </a:rPr>
              <a:t>Overview and </a:t>
            </a:r>
            <a:r>
              <a:rPr lang="en-US" sz="6000" b="1" dirty="0" smtClean="0">
                <a:latin typeface="Bell MT" pitchFamily="18" charset="0"/>
              </a:rPr>
              <a:t>Insights</a:t>
            </a:r>
            <a:r>
              <a:rPr lang="en-US" b="1" dirty="0" smtClean="0"/>
              <a:t/>
            </a:r>
            <a:br>
              <a:rPr lang="en-US" b="1" dirty="0" smtClean="0"/>
            </a:br>
            <a:endParaRPr lang="en-US" dirty="0"/>
          </a:p>
        </p:txBody>
      </p:sp>
      <p:sp>
        <p:nvSpPr>
          <p:cNvPr id="3" name="Content Placeholder 2"/>
          <p:cNvSpPr>
            <a:spLocks noGrp="1"/>
          </p:cNvSpPr>
          <p:nvPr>
            <p:ph sz="quarter" idx="12"/>
          </p:nvPr>
        </p:nvSpPr>
        <p:spPr>
          <a:xfrm>
            <a:off x="1450152" y="952500"/>
            <a:ext cx="9154347" cy="5275685"/>
          </a:xfrm>
        </p:spPr>
        <p:txBody>
          <a:bodyPr>
            <a:noAutofit/>
          </a:bodyPr>
          <a:lstStyle/>
          <a:p>
            <a:pPr marL="457200" indent="-457200">
              <a:buNone/>
            </a:pPr>
            <a:r>
              <a:rPr lang="en-US" b="1" dirty="0" smtClean="0">
                <a:latin typeface="Bell MT" pitchFamily="18" charset="0"/>
              </a:rPr>
              <a:t>1.Data </a:t>
            </a:r>
            <a:r>
              <a:rPr lang="en-US" b="1" dirty="0" smtClean="0">
                <a:latin typeface="Bell MT" pitchFamily="18" charset="0"/>
              </a:rPr>
              <a:t>and </a:t>
            </a:r>
            <a:r>
              <a:rPr lang="en-US" b="1" dirty="0" smtClean="0">
                <a:latin typeface="Bell MT" pitchFamily="18" charset="0"/>
              </a:rPr>
              <a:t>Model:</a:t>
            </a:r>
            <a:endParaRPr lang="en-US" b="1" dirty="0" smtClean="0">
              <a:latin typeface="Bell MT" pitchFamily="18" charset="0"/>
            </a:endParaRPr>
          </a:p>
          <a:p>
            <a:pPr>
              <a:buFont typeface="Wingdings" pitchFamily="2" charset="2"/>
              <a:buChar char="Ø"/>
            </a:pPr>
            <a:r>
              <a:rPr lang="en-US" b="1" dirty="0" smtClean="0">
                <a:latin typeface="Bell MT" pitchFamily="18" charset="0"/>
              </a:rPr>
              <a:t>Dataset</a:t>
            </a:r>
            <a:r>
              <a:rPr lang="en-US" dirty="0" smtClean="0">
                <a:latin typeface="Bell MT" pitchFamily="18" charset="0"/>
              </a:rPr>
              <a:t>: 15,000 records</a:t>
            </a:r>
          </a:p>
          <a:p>
            <a:pPr>
              <a:buFont typeface="Wingdings" pitchFamily="2" charset="2"/>
              <a:buChar char="Ø"/>
            </a:pPr>
            <a:r>
              <a:rPr lang="en-US" b="1" dirty="0" smtClean="0">
                <a:latin typeface="Bell MT" pitchFamily="18" charset="0"/>
              </a:rPr>
              <a:t>Model</a:t>
            </a:r>
            <a:r>
              <a:rPr lang="en-US" dirty="0" smtClean="0">
                <a:latin typeface="Bell MT" pitchFamily="18" charset="0"/>
              </a:rPr>
              <a:t>: </a:t>
            </a:r>
            <a:r>
              <a:rPr lang="en-US" dirty="0" err="1" smtClean="0">
                <a:latin typeface="Bell MT" pitchFamily="18" charset="0"/>
              </a:rPr>
              <a:t>XGBoost</a:t>
            </a:r>
            <a:r>
              <a:rPr lang="en-US" dirty="0" smtClean="0">
                <a:latin typeface="Bell MT" pitchFamily="18" charset="0"/>
              </a:rPr>
              <a:t> </a:t>
            </a:r>
            <a:r>
              <a:rPr lang="en-US" dirty="0" err="1" smtClean="0">
                <a:latin typeface="Bell MT" pitchFamily="18" charset="0"/>
              </a:rPr>
              <a:t>Regressor</a:t>
            </a:r>
            <a:endParaRPr lang="en-US" dirty="0" smtClean="0">
              <a:latin typeface="Bell MT" pitchFamily="18" charset="0"/>
            </a:endParaRPr>
          </a:p>
          <a:p>
            <a:pPr>
              <a:buFont typeface="Wingdings" pitchFamily="2" charset="2"/>
              <a:buChar char="Ø"/>
            </a:pPr>
            <a:r>
              <a:rPr lang="en-US" b="1" dirty="0" smtClean="0">
                <a:latin typeface="Bell MT" pitchFamily="18" charset="0"/>
              </a:rPr>
              <a:t>Performance</a:t>
            </a:r>
            <a:r>
              <a:rPr lang="en-US" dirty="0" smtClean="0">
                <a:latin typeface="Bell MT" pitchFamily="18" charset="0"/>
              </a:rPr>
              <a:t>: Mean Absolute Error (MAE) of nearly 1</a:t>
            </a:r>
          </a:p>
          <a:p>
            <a:pPr>
              <a:buNone/>
            </a:pPr>
            <a:r>
              <a:rPr lang="en-US" b="1" dirty="0" smtClean="0">
                <a:latin typeface="Bell MT" pitchFamily="18" charset="0"/>
              </a:rPr>
              <a:t>2.Data Visualization:</a:t>
            </a:r>
            <a:endParaRPr lang="en-US" b="1" dirty="0" smtClean="0">
              <a:latin typeface="Bell MT" pitchFamily="18" charset="0"/>
            </a:endParaRPr>
          </a:p>
          <a:p>
            <a:pPr>
              <a:buFont typeface="Wingdings" pitchFamily="2" charset="2"/>
              <a:buChar char="Ø"/>
            </a:pPr>
            <a:r>
              <a:rPr lang="en-US" b="1" dirty="0" smtClean="0">
                <a:latin typeface="Bell MT" pitchFamily="18" charset="0"/>
              </a:rPr>
              <a:t> </a:t>
            </a:r>
            <a:r>
              <a:rPr lang="en-US" b="1" dirty="0" smtClean="0">
                <a:latin typeface="Bell MT" pitchFamily="18" charset="0"/>
              </a:rPr>
              <a:t>Distribution</a:t>
            </a:r>
            <a:r>
              <a:rPr lang="en-US" dirty="0" smtClean="0">
                <a:latin typeface="Bell MT" pitchFamily="18" charset="0"/>
              </a:rPr>
              <a:t>: Used a count plot to show the distribution of males and females in the dataset</a:t>
            </a:r>
            <a:r>
              <a:rPr lang="en-US" dirty="0" smtClean="0">
                <a:latin typeface="Bell MT" pitchFamily="18" charset="0"/>
              </a:rPr>
              <a:t>.</a:t>
            </a:r>
          </a:p>
          <a:p>
            <a:pPr>
              <a:buNone/>
            </a:pPr>
            <a:r>
              <a:rPr lang="en-US" b="1" dirty="0" smtClean="0">
                <a:latin typeface="Bell MT" pitchFamily="18" charset="0"/>
              </a:rPr>
              <a:t>3.Workflow:</a:t>
            </a:r>
            <a:endParaRPr lang="en-US" b="1" dirty="0" smtClean="0">
              <a:latin typeface="Bell MT" pitchFamily="18" charset="0"/>
            </a:endParaRPr>
          </a:p>
          <a:p>
            <a:pPr>
              <a:buFont typeface="Wingdings" pitchFamily="2" charset="2"/>
              <a:buChar char="Ø"/>
            </a:pPr>
            <a:r>
              <a:rPr lang="en-US" b="1" dirty="0" smtClean="0">
                <a:latin typeface="Bell MT" pitchFamily="18" charset="0"/>
              </a:rPr>
              <a:t>Data Collection and Preprocessing</a:t>
            </a:r>
            <a:r>
              <a:rPr lang="en-US" dirty="0" smtClean="0">
                <a:latin typeface="Bell MT" pitchFamily="18" charset="0"/>
              </a:rPr>
              <a:t>: Cleaned and prepared the dataset.</a:t>
            </a:r>
          </a:p>
          <a:p>
            <a:pPr>
              <a:buFont typeface="Wingdings" pitchFamily="2" charset="2"/>
              <a:buChar char="Ø"/>
            </a:pPr>
            <a:r>
              <a:rPr lang="en-US" b="1" dirty="0" smtClean="0">
                <a:latin typeface="Bell MT" pitchFamily="18" charset="0"/>
              </a:rPr>
              <a:t>Model Training and Evaluation</a:t>
            </a:r>
            <a:r>
              <a:rPr lang="en-US" dirty="0" smtClean="0">
                <a:latin typeface="Bell MT" pitchFamily="18" charset="0"/>
              </a:rPr>
              <a:t>: Trained </a:t>
            </a:r>
            <a:r>
              <a:rPr lang="en-US" dirty="0" err="1" smtClean="0">
                <a:latin typeface="Bell MT" pitchFamily="18" charset="0"/>
              </a:rPr>
              <a:t>XGBoost</a:t>
            </a:r>
            <a:r>
              <a:rPr lang="en-US" dirty="0" smtClean="0">
                <a:latin typeface="Bell MT" pitchFamily="18" charset="0"/>
              </a:rPr>
              <a:t> </a:t>
            </a:r>
            <a:r>
              <a:rPr lang="en-US" dirty="0" err="1" smtClean="0">
                <a:latin typeface="Bell MT" pitchFamily="18" charset="0"/>
              </a:rPr>
              <a:t>Regressor</a:t>
            </a:r>
            <a:r>
              <a:rPr lang="en-US" dirty="0" smtClean="0">
                <a:latin typeface="Bell MT" pitchFamily="18" charset="0"/>
              </a:rPr>
              <a:t> and evaluated its performance.</a:t>
            </a:r>
          </a:p>
          <a:p>
            <a:pPr>
              <a:buFont typeface="Wingdings" pitchFamily="2" charset="2"/>
              <a:buChar char="Ø"/>
            </a:pPr>
            <a:r>
              <a:rPr lang="en-US" b="1" dirty="0" smtClean="0">
                <a:latin typeface="Bell MT" pitchFamily="18" charset="0"/>
              </a:rPr>
              <a:t>Web Application</a:t>
            </a:r>
            <a:r>
              <a:rPr lang="en-US" dirty="0" smtClean="0">
                <a:latin typeface="Bell MT" pitchFamily="18" charset="0"/>
              </a:rPr>
              <a:t>: Built using Flask to allow user interaction and predictions.</a:t>
            </a:r>
          </a:p>
          <a:p>
            <a:pPr>
              <a:buNone/>
            </a:pPr>
            <a:endParaRPr lang="en-US" dirty="0" smtClean="0">
              <a:latin typeface="Bell MT" pitchFamily="18" charset="0"/>
            </a:endParaRPr>
          </a:p>
          <a:p>
            <a:endParaRPr lang="en-US" dirty="0">
              <a:latin typeface="Bell MT" pitchFamily="18" charset="0"/>
            </a:endParaRPr>
          </a:p>
        </p:txBody>
      </p:sp>
      <p:sp>
        <p:nvSpPr>
          <p:cNvPr id="4" name="Slide Number Placeholder 3"/>
          <p:cNvSpPr>
            <a:spLocks noGrp="1"/>
          </p:cNvSpPr>
          <p:nvPr>
            <p:ph type="sldNum" sz="quarter" idx="15"/>
          </p:nvPr>
        </p:nvSpPr>
        <p:spPr/>
        <p:txBody>
          <a:bodyPr/>
          <a:lstStyle/>
          <a:p>
            <a:fld id="{18D65601-5AE2-46FC-B138-694DDD2B510D}"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1" y="266701"/>
            <a:ext cx="10325100" cy="1028700"/>
          </a:xfrm>
        </p:spPr>
        <p:txBody>
          <a:bodyPr>
            <a:noAutofit/>
          </a:bodyPr>
          <a:lstStyle/>
          <a:p>
            <a:r>
              <a:rPr lang="en-US" sz="4000" b="1" dirty="0" smtClean="0">
                <a:latin typeface="Bell MT" pitchFamily="18" charset="0"/>
              </a:rPr>
              <a:t>Statistical Measures of Dataset </a:t>
            </a:r>
            <a:r>
              <a:rPr lang="en-US" sz="4000" b="1" dirty="0" smtClean="0">
                <a:latin typeface="Bell MT" pitchFamily="18" charset="0"/>
              </a:rPr>
              <a:t>Metrics</a:t>
            </a:r>
            <a:endParaRPr lang="en-US" sz="4000" dirty="0">
              <a:latin typeface="Bell MT" pitchFamily="18" charset="0"/>
            </a:endParaRPr>
          </a:p>
        </p:txBody>
      </p:sp>
      <p:pic>
        <p:nvPicPr>
          <p:cNvPr id="5" name="Content Placeholder 4" descr="Figure_10.png"/>
          <p:cNvPicPr>
            <a:picLocks noGrp="1" noChangeAspect="1"/>
          </p:cNvPicPr>
          <p:nvPr>
            <p:ph sz="quarter" idx="12"/>
          </p:nvPr>
        </p:nvPicPr>
        <p:blipFill>
          <a:blip r:embed="rId2"/>
          <a:stretch>
            <a:fillRect/>
          </a:stretch>
        </p:blipFill>
        <p:spPr>
          <a:xfrm>
            <a:off x="1257300" y="1130300"/>
            <a:ext cx="8991600" cy="4864100"/>
          </a:xfrm>
        </p:spPr>
      </p:pic>
      <p:sp>
        <p:nvSpPr>
          <p:cNvPr id="4" name="Slide Number Placeholder 3"/>
          <p:cNvSpPr>
            <a:spLocks noGrp="1"/>
          </p:cNvSpPr>
          <p:nvPr>
            <p:ph type="sldNum" sz="quarter" idx="15"/>
          </p:nvPr>
        </p:nvSpPr>
        <p:spPr/>
        <p:txBody>
          <a:bodyPr/>
          <a:lstStyle/>
          <a:p>
            <a:fld id="{18D65601-5AE2-46FC-B138-694DDD2B510D}"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5600" y="503853"/>
            <a:ext cx="8993890" cy="296248"/>
          </a:xfrm>
        </p:spPr>
        <p:txBody>
          <a:bodyPr>
            <a:normAutofit fontScale="90000"/>
          </a:bodyPr>
          <a:lstStyle/>
          <a:p>
            <a:r>
              <a:rPr lang="en-US" b="1" dirty="0" smtClean="0">
                <a:latin typeface="Bell MT" pitchFamily="18" charset="0"/>
              </a:rPr>
              <a:t>Project Overview</a:t>
            </a:r>
            <a:br>
              <a:rPr lang="en-US" b="1" dirty="0" smtClean="0">
                <a:latin typeface="Bell MT" pitchFamily="18" charset="0"/>
              </a:rPr>
            </a:br>
            <a:endParaRPr lang="en-US" dirty="0">
              <a:latin typeface="Bell MT" pitchFamily="18" charset="0"/>
            </a:endParaRPr>
          </a:p>
        </p:txBody>
      </p:sp>
      <p:sp>
        <p:nvSpPr>
          <p:cNvPr id="4" name="Slide Number Placeholder 3"/>
          <p:cNvSpPr>
            <a:spLocks noGrp="1"/>
          </p:cNvSpPr>
          <p:nvPr>
            <p:ph type="sldNum" sz="quarter" idx="15"/>
          </p:nvPr>
        </p:nvSpPr>
        <p:spPr/>
        <p:txBody>
          <a:bodyPr/>
          <a:lstStyle/>
          <a:p>
            <a:fld id="{18D65601-5AE2-46FC-B138-694DDD2B510D}" type="slidenum">
              <a:rPr lang="en-US" smtClean="0"/>
              <a:pPr/>
              <a:t>8</a:t>
            </a:fld>
            <a:endParaRPr lang="en-US" dirty="0"/>
          </a:p>
        </p:txBody>
      </p:sp>
      <p:pic>
        <p:nvPicPr>
          <p:cNvPr id="9" name="Content Placeholder 8" descr="Screenshot (780).png"/>
          <p:cNvPicPr>
            <a:picLocks noGrp="1" noChangeAspect="1"/>
          </p:cNvPicPr>
          <p:nvPr>
            <p:ph sz="quarter" idx="12"/>
          </p:nvPr>
        </p:nvPicPr>
        <p:blipFill>
          <a:blip r:embed="rId2"/>
          <a:srcRect l="24652" t="14181" r="28099"/>
          <a:stretch>
            <a:fillRect/>
          </a:stretch>
        </p:blipFill>
        <p:spPr>
          <a:xfrm>
            <a:off x="990600" y="812800"/>
            <a:ext cx="5105400" cy="5422900"/>
          </a:xfrm>
        </p:spPr>
      </p:pic>
      <p:pic>
        <p:nvPicPr>
          <p:cNvPr id="10" name="Picture 9" descr="Screenshot (782).png"/>
          <p:cNvPicPr>
            <a:picLocks noChangeAspect="1"/>
          </p:cNvPicPr>
          <p:nvPr/>
        </p:nvPicPr>
        <p:blipFill>
          <a:blip r:embed="rId3"/>
          <a:srcRect l="29414" t="28218" r="31922" b="12657"/>
          <a:stretch>
            <a:fillRect/>
          </a:stretch>
        </p:blipFill>
        <p:spPr>
          <a:xfrm>
            <a:off x="6362700" y="723900"/>
            <a:ext cx="5435600" cy="2832100"/>
          </a:xfrm>
          <a:prstGeom prst="rect">
            <a:avLst/>
          </a:prstGeom>
        </p:spPr>
      </p:pic>
      <p:pic>
        <p:nvPicPr>
          <p:cNvPr id="11" name="Picture 10" descr="Screenshot (783).png"/>
          <p:cNvPicPr>
            <a:picLocks noChangeAspect="1"/>
          </p:cNvPicPr>
          <p:nvPr/>
        </p:nvPicPr>
        <p:blipFill>
          <a:blip r:embed="rId4"/>
          <a:srcRect l="28548" t="34458" r="34869" b="11350"/>
          <a:stretch>
            <a:fillRect/>
          </a:stretch>
        </p:blipFill>
        <p:spPr>
          <a:xfrm>
            <a:off x="6426200" y="3568700"/>
            <a:ext cx="5321300" cy="3009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061384-8C2A-AC46-D296-2DF95CBF10BB}"/>
              </a:ext>
            </a:extLst>
          </p:cNvPr>
          <p:cNvSpPr>
            <a:spLocks noGrp="1"/>
          </p:cNvSpPr>
          <p:nvPr>
            <p:ph type="title"/>
          </p:nvPr>
        </p:nvSpPr>
        <p:spPr>
          <a:xfrm>
            <a:off x="889001" y="914401"/>
            <a:ext cx="3733800" cy="965199"/>
          </a:xfrm>
        </p:spPr>
        <p:txBody>
          <a:bodyPr/>
          <a:lstStyle/>
          <a:p>
            <a:r>
              <a:rPr lang="en-US" b="1" dirty="0" smtClean="0">
                <a:solidFill>
                  <a:schemeClr val="tx1"/>
                </a:solidFill>
                <a:latin typeface="Bell MT" pitchFamily="18" charset="0"/>
              </a:rPr>
              <a:t>Conclusion:</a:t>
            </a:r>
            <a:endParaRPr lang="en-ZA" b="1" dirty="0">
              <a:solidFill>
                <a:schemeClr val="tx1"/>
              </a:solidFill>
              <a:latin typeface="Bell MT" pitchFamily="18" charset="0"/>
            </a:endParaRPr>
          </a:p>
        </p:txBody>
      </p:sp>
      <p:sp>
        <p:nvSpPr>
          <p:cNvPr id="3" name="Text Placeholder 2">
            <a:extLst>
              <a:ext uri="{FF2B5EF4-FFF2-40B4-BE49-F238E27FC236}">
                <a16:creationId xmlns:a16="http://schemas.microsoft.com/office/drawing/2014/main" xmlns="" id="{FEF606B8-D15C-3916-2C66-49DEC593A3C2}"/>
              </a:ext>
            </a:extLst>
          </p:cNvPr>
          <p:cNvSpPr>
            <a:spLocks noGrp="1"/>
          </p:cNvSpPr>
          <p:nvPr>
            <p:ph type="body" sz="quarter" idx="12"/>
          </p:nvPr>
        </p:nvSpPr>
        <p:spPr>
          <a:xfrm>
            <a:off x="1038031" y="1143000"/>
            <a:ext cx="10115939" cy="5067299"/>
          </a:xfrm>
        </p:spPr>
        <p:txBody>
          <a:bodyPr>
            <a:noAutofit/>
          </a:bodyPr>
          <a:lstStyle/>
          <a:p>
            <a:endParaRPr lang="en-US" sz="2800" dirty="0" smtClean="0">
              <a:latin typeface="Bell MT" pitchFamily="18" charset="0"/>
            </a:endParaRPr>
          </a:p>
          <a:p>
            <a:endParaRPr lang="en-US" sz="2800" dirty="0" smtClean="0">
              <a:latin typeface="Bell MT" pitchFamily="18" charset="0"/>
            </a:endParaRPr>
          </a:p>
          <a:p>
            <a:r>
              <a:rPr lang="en-US" sz="2800" dirty="0" smtClean="0">
                <a:latin typeface="Bell MT" pitchFamily="18" charset="0"/>
              </a:rPr>
              <a:t>This project successfully created a web application for predicting calories burned based on user inputs such as age, height, weight, exercise duration, heart rate, body temperature, and gender. Using Python's Flask framework and </a:t>
            </a:r>
            <a:r>
              <a:rPr lang="en-US" sz="2800" dirty="0" err="1" smtClean="0">
                <a:latin typeface="Bell MT" pitchFamily="18" charset="0"/>
              </a:rPr>
              <a:t>XGBoost</a:t>
            </a:r>
            <a:r>
              <a:rPr lang="en-US" sz="2800" dirty="0" smtClean="0">
                <a:latin typeface="Bell MT" pitchFamily="18" charset="0"/>
              </a:rPr>
              <a:t> for the machine learning model, we ensured accurate and reliable predictions. The application offers a user-friendly interface where users can easily input their data and receive instant calorie predictions. This tool can help users monitor their fitness and make informed decisions about their diet and exercise routines. Future improvements could include personalized recommendations and continuous model updates for enhanced accuracy.</a:t>
            </a:r>
            <a:endParaRPr lang="en-US" sz="2800" dirty="0">
              <a:latin typeface="Bell MT" pitchFamily="18" charset="0"/>
            </a:endParaRPr>
          </a:p>
        </p:txBody>
      </p:sp>
    </p:spTree>
    <p:extLst>
      <p:ext uri="{BB962C8B-B14F-4D97-AF65-F5344CB8AC3E}">
        <p14:creationId xmlns:p14="http://schemas.microsoft.com/office/powerpoint/2010/main" xmlns="" val="4011334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F101732C-7338-DBA0-BD19-1FA88304749F}"/>
              </a:ext>
            </a:extLst>
          </p:cNvPr>
          <p:cNvSpPr>
            <a:spLocks noGrp="1"/>
          </p:cNvSpPr>
          <p:nvPr>
            <p:ph type="title"/>
          </p:nvPr>
        </p:nvSpPr>
        <p:spPr>
          <a:xfrm>
            <a:off x="1317614" y="690511"/>
            <a:ext cx="7839086" cy="1658989"/>
          </a:xfrm>
        </p:spPr>
        <p:txBody>
          <a:bodyPr>
            <a:normAutofit/>
          </a:bodyPr>
          <a:lstStyle/>
          <a:p>
            <a:r>
              <a:rPr lang="en-US" sz="6600" b="1" dirty="0" smtClean="0">
                <a:solidFill>
                  <a:schemeClr val="tx1"/>
                </a:solidFill>
                <a:latin typeface="Bell MT" pitchFamily="18" charset="0"/>
              </a:rPr>
              <a:t>THANK YOU</a:t>
            </a:r>
            <a:endParaRPr lang="en-US" sz="6600" b="1" dirty="0">
              <a:solidFill>
                <a:schemeClr val="tx1"/>
              </a:solidFill>
              <a:latin typeface="Bell MT" pitchFamily="18" charset="0"/>
            </a:endParaRPr>
          </a:p>
        </p:txBody>
      </p:sp>
      <p:sp>
        <p:nvSpPr>
          <p:cNvPr id="2" name="Content Placeholder 1">
            <a:extLst>
              <a:ext uri="{FF2B5EF4-FFF2-40B4-BE49-F238E27FC236}">
                <a16:creationId xmlns:a16="http://schemas.microsoft.com/office/drawing/2014/main" xmlns="" id="{70ECFE66-A9E7-A365-967B-2FD670CB3923}"/>
              </a:ext>
            </a:extLst>
          </p:cNvPr>
          <p:cNvSpPr>
            <a:spLocks noGrp="1"/>
          </p:cNvSpPr>
          <p:nvPr>
            <p:ph sz="quarter" idx="10"/>
          </p:nvPr>
        </p:nvSpPr>
        <p:spPr>
          <a:xfrm>
            <a:off x="1308100" y="2070100"/>
            <a:ext cx="9758558" cy="3873454"/>
          </a:xfrm>
        </p:spPr>
        <p:txBody>
          <a:bodyPr/>
          <a:lstStyle/>
          <a:p>
            <a:r>
              <a:rPr lang="en-US" sz="3600" dirty="0" smtClean="0">
                <a:solidFill>
                  <a:schemeClr val="bg1">
                    <a:lumMod val="95000"/>
                    <a:lumOff val="5000"/>
                  </a:schemeClr>
                </a:solidFill>
                <a:latin typeface="Bell MT" pitchFamily="18" charset="0"/>
              </a:rPr>
              <a:t>G </a:t>
            </a:r>
            <a:r>
              <a:rPr lang="en-US" sz="3600" dirty="0" err="1" smtClean="0">
                <a:solidFill>
                  <a:schemeClr val="bg1">
                    <a:lumMod val="95000"/>
                    <a:lumOff val="5000"/>
                  </a:schemeClr>
                </a:solidFill>
                <a:latin typeface="Bell MT" pitchFamily="18" charset="0"/>
              </a:rPr>
              <a:t>Karthik</a:t>
            </a:r>
            <a:r>
              <a:rPr lang="en-US" sz="3600" dirty="0" smtClean="0">
                <a:solidFill>
                  <a:schemeClr val="bg1">
                    <a:lumMod val="95000"/>
                    <a:lumOff val="5000"/>
                  </a:schemeClr>
                </a:solidFill>
                <a:latin typeface="Bell MT" pitchFamily="18" charset="0"/>
              </a:rPr>
              <a:t>                            - 245521733144</a:t>
            </a:r>
          </a:p>
          <a:p>
            <a:r>
              <a:rPr lang="en-US" sz="3600" dirty="0" err="1" smtClean="0">
                <a:solidFill>
                  <a:schemeClr val="bg1">
                    <a:lumMod val="95000"/>
                    <a:lumOff val="5000"/>
                  </a:schemeClr>
                </a:solidFill>
                <a:latin typeface="Bell MT" pitchFamily="18" charset="0"/>
              </a:rPr>
              <a:t>Garlapati</a:t>
            </a:r>
            <a:r>
              <a:rPr lang="en-US" sz="3600" dirty="0" smtClean="0">
                <a:solidFill>
                  <a:schemeClr val="bg1">
                    <a:lumMod val="95000"/>
                    <a:lumOff val="5000"/>
                  </a:schemeClr>
                </a:solidFill>
                <a:latin typeface="Bell MT" pitchFamily="18" charset="0"/>
              </a:rPr>
              <a:t> </a:t>
            </a:r>
            <a:r>
              <a:rPr lang="en-US" sz="3600" dirty="0" err="1" smtClean="0">
                <a:solidFill>
                  <a:schemeClr val="bg1">
                    <a:lumMod val="95000"/>
                    <a:lumOff val="5000"/>
                  </a:schemeClr>
                </a:solidFill>
                <a:latin typeface="Bell MT" pitchFamily="18" charset="0"/>
              </a:rPr>
              <a:t>Sai</a:t>
            </a:r>
            <a:r>
              <a:rPr lang="en-US" sz="3600" dirty="0" smtClean="0">
                <a:solidFill>
                  <a:schemeClr val="bg1">
                    <a:lumMod val="95000"/>
                    <a:lumOff val="5000"/>
                  </a:schemeClr>
                </a:solidFill>
                <a:latin typeface="Bell MT" pitchFamily="18" charset="0"/>
              </a:rPr>
              <a:t> </a:t>
            </a:r>
            <a:r>
              <a:rPr lang="en-US" sz="3600" dirty="0" err="1" smtClean="0">
                <a:solidFill>
                  <a:schemeClr val="bg1">
                    <a:lumMod val="95000"/>
                    <a:lumOff val="5000"/>
                  </a:schemeClr>
                </a:solidFill>
                <a:latin typeface="Bell MT" pitchFamily="18" charset="0"/>
              </a:rPr>
              <a:t>Vinny</a:t>
            </a:r>
            <a:r>
              <a:rPr lang="en-US" sz="3600" dirty="0" smtClean="0">
                <a:solidFill>
                  <a:schemeClr val="bg1">
                    <a:lumMod val="95000"/>
                    <a:lumOff val="5000"/>
                  </a:schemeClr>
                </a:solidFill>
                <a:latin typeface="Bell MT" pitchFamily="18" charset="0"/>
              </a:rPr>
              <a:t> </a:t>
            </a:r>
            <a:r>
              <a:rPr lang="en-US" sz="3600" dirty="0" smtClean="0">
                <a:solidFill>
                  <a:schemeClr val="bg1">
                    <a:lumMod val="95000"/>
                    <a:lumOff val="5000"/>
                  </a:schemeClr>
                </a:solidFill>
                <a:latin typeface="Bell MT" pitchFamily="18" charset="0"/>
              </a:rPr>
              <a:t>Reddy - 245521733147</a:t>
            </a:r>
            <a:endParaRPr lang="en-US" sz="3600" dirty="0" smtClean="0">
              <a:solidFill>
                <a:schemeClr val="bg1">
                  <a:lumMod val="95000"/>
                  <a:lumOff val="5000"/>
                </a:schemeClr>
              </a:solidFill>
              <a:latin typeface="Bell MT" pitchFamily="18" charset="0"/>
            </a:endParaRPr>
          </a:p>
          <a:p>
            <a:r>
              <a:rPr lang="en-US" sz="3600" dirty="0" err="1" smtClean="0">
                <a:solidFill>
                  <a:schemeClr val="bg1">
                    <a:lumMod val="95000"/>
                    <a:lumOff val="5000"/>
                  </a:schemeClr>
                </a:solidFill>
                <a:latin typeface="Bell MT" pitchFamily="18" charset="0"/>
              </a:rPr>
              <a:t>Vaddemoni</a:t>
            </a:r>
            <a:r>
              <a:rPr lang="en-US" sz="3600" dirty="0" smtClean="0">
                <a:solidFill>
                  <a:schemeClr val="bg1">
                    <a:lumMod val="95000"/>
                    <a:lumOff val="5000"/>
                  </a:schemeClr>
                </a:solidFill>
                <a:latin typeface="Bell MT" pitchFamily="18" charset="0"/>
              </a:rPr>
              <a:t> </a:t>
            </a:r>
            <a:r>
              <a:rPr lang="en-US" sz="3600" dirty="0" err="1" smtClean="0">
                <a:solidFill>
                  <a:schemeClr val="bg1">
                    <a:lumMod val="95000"/>
                    <a:lumOff val="5000"/>
                  </a:schemeClr>
                </a:solidFill>
                <a:latin typeface="Bell MT" pitchFamily="18" charset="0"/>
              </a:rPr>
              <a:t>Hari</a:t>
            </a:r>
            <a:r>
              <a:rPr lang="en-US" sz="3600" dirty="0" smtClean="0">
                <a:solidFill>
                  <a:schemeClr val="bg1">
                    <a:lumMod val="95000"/>
                    <a:lumOff val="5000"/>
                  </a:schemeClr>
                </a:solidFill>
                <a:latin typeface="Bell MT" pitchFamily="18" charset="0"/>
              </a:rPr>
              <a:t> </a:t>
            </a:r>
            <a:r>
              <a:rPr lang="en-US" sz="3600" dirty="0" err="1" smtClean="0">
                <a:solidFill>
                  <a:schemeClr val="bg1">
                    <a:lumMod val="95000"/>
                    <a:lumOff val="5000"/>
                  </a:schemeClr>
                </a:solidFill>
                <a:latin typeface="Bell MT" pitchFamily="18" charset="0"/>
              </a:rPr>
              <a:t>Priya</a:t>
            </a:r>
            <a:r>
              <a:rPr lang="en-US" sz="3600" dirty="0" smtClean="0">
                <a:solidFill>
                  <a:schemeClr val="bg1">
                    <a:lumMod val="95000"/>
                    <a:lumOff val="5000"/>
                  </a:schemeClr>
                </a:solidFill>
                <a:latin typeface="Bell MT" pitchFamily="18" charset="0"/>
              </a:rPr>
              <a:t>        -245521733191 </a:t>
            </a:r>
            <a:endParaRPr lang="en-US" sz="3600" dirty="0" smtClean="0">
              <a:solidFill>
                <a:schemeClr val="bg1">
                  <a:lumMod val="95000"/>
                  <a:lumOff val="5000"/>
                </a:schemeClr>
              </a:solidFill>
              <a:latin typeface="Bell MT" pitchFamily="18" charset="0"/>
            </a:endParaRPr>
          </a:p>
          <a:p>
            <a:endParaRPr lang="en-US" dirty="0"/>
          </a:p>
        </p:txBody>
      </p:sp>
    </p:spTree>
    <p:extLst>
      <p:ext uri="{BB962C8B-B14F-4D97-AF65-F5344CB8AC3E}">
        <p14:creationId xmlns:p14="http://schemas.microsoft.com/office/powerpoint/2010/main" xmlns=""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DD27D0-5B6E-4A0E-95B2-BB37F9D8861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98CD342-50C4-441F-B4A3-7D5ADB057132}">
  <ds:schemaRefs>
    <ds:schemaRef ds:uri="http://schemas.microsoft.com/sharepoint/v3/contenttype/forms"/>
  </ds:schemaRefs>
</ds:datastoreItem>
</file>

<file path=customXml/itemProps3.xml><?xml version="1.0" encoding="utf-8"?>
<ds:datastoreItem xmlns:ds="http://schemas.openxmlformats.org/officeDocument/2006/customXml" ds:itemID="{3FAE0208-DBD5-43E1-AC6B-D2AD9623F0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86</TotalTime>
  <Words>365</Words>
  <Application>Microsoft Office PowerPoint</Application>
  <PresentationFormat>Custom</PresentationFormat>
  <Paragraphs>42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Custom</vt:lpstr>
      <vt:lpstr>Calories Burned Prediction  Domain: Machine Learning </vt:lpstr>
      <vt:lpstr>    Introduction:</vt:lpstr>
      <vt:lpstr>Technologies Used:</vt:lpstr>
      <vt:lpstr>PROCESS: In this project, we will be using the XGBoost Regressor to train our machine learning algorithm. Here is the workflow that we will follow: Data Collection: Gather the necessary data for training our machine learning model. This data should include features like age, height, weight, duration of exercise, heart rate, body temperature, and gender. Data Preprocessing: Clean and preprocess the data to ensure it's in the right format for training. This may include handling missing values, encoding categorical variables (like gender), and normalizing or scaling the features. Model Training: Train the XGBoost Regressor using the preprocessed training data. The XGBoost Regressor is chosen because this is a regression problem where we aim to predict the number of calories burned based on the input features. Model Evaluation: Evaluate the performance of the trained XGBoost Regressor using a test dataset. This will help us understand how well our model generalizes to new, unseen data. Model Deployment: Once the model is trained and evaluated, we can save it using pickle and deploy it in our Flask application to make predictions based on user inputs. </vt:lpstr>
      <vt:lpstr>.</vt:lpstr>
      <vt:lpstr>Overview and Insights </vt:lpstr>
      <vt:lpstr>Statistical Measures of Dataset Metrics</vt:lpstr>
      <vt:lpstr>Project Overview </vt:lpstr>
      <vt:lpstr>Conclusion:</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cp:lastModifiedBy>Hp</cp:lastModifiedBy>
  <cp:revision>9</cp:revision>
  <dcterms:created xsi:type="dcterms:W3CDTF">2024-01-11T18:09:01Z</dcterms:created>
  <dcterms:modified xsi:type="dcterms:W3CDTF">2024-07-28T06:37:35Z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